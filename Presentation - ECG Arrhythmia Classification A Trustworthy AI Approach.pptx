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Host Grotesk Medium" panose="020B0604020202020204" charset="0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55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5651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ECG Arrhythmia Classification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314230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a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trustworthy, explainable, and robust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pipeline for cardiac rhythm analysis — where accuracy meets interpretability and resilience.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257324"/>
            <a:ext cx="177379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325308"/>
            <a:ext cx="150161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TRUSTWORTHY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80930" y="5249704"/>
            <a:ext cx="568762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24639" y="5325308"/>
            <a:ext cx="28134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3039" y="5249704"/>
            <a:ext cx="2633305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6748" y="5325308"/>
            <a:ext cx="234588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ADVERSARIAL ROBUSTNESS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1356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 With "Good Enough" Accuracy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2893338"/>
            <a:ext cx="3664744" cy="2334101"/>
          </a:xfrm>
          <a:prstGeom prst="roundRect">
            <a:avLst>
              <a:gd name="adj" fmla="val 408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127772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🎯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Accuracy Isn't Everything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972520"/>
            <a:ext cx="31958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accuracy on benchmarks masks critical failure modes in real clinical settings.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893338"/>
            <a:ext cx="3664863" cy="2334101"/>
          </a:xfrm>
          <a:prstGeom prst="roundRect">
            <a:avLst>
              <a:gd name="adj" fmla="val 408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182" y="3127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🔒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Black-Box Models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182" y="3618190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Clinicians cannot trust or act on decisions they cannot understand or verify.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454253"/>
            <a:ext cx="7556421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624" y="5688687"/>
            <a:ext cx="35567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⚡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Adversarial Vulnerability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14624" y="6179106"/>
            <a:ext cx="708755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Subtle signal perturbations can silently fool even high-performing models.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2805"/>
            <a:ext cx="10786824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Solution: An End-to-End Trustworthy Pipeline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453753"/>
            <a:ext cx="13205579" cy="5796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2501" y="5628081"/>
            <a:ext cx="2314824" cy="35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End-to-End ECG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952501" y="6087548"/>
            <a:ext cx="2314824" cy="527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signal to classification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451814" y="5181332"/>
            <a:ext cx="2314824" cy="71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Adversarial Robustness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9451814" y="5998516"/>
            <a:ext cx="2314824" cy="527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FGSM, PGD, adversarial training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21236" y="2061646"/>
            <a:ext cx="2314824" cy="35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Explainable AI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6221236" y="2521113"/>
            <a:ext cx="2314824" cy="527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 and Integrated Gradients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2351" y="7432238"/>
            <a:ext cx="13205579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stage is designed to address a distinct gap in conventional ECG deep learning systems — moving beyond prediction into transparency and resilience.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9121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Pipeline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1580198"/>
            <a:ext cx="1010007" cy="1212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6904" y="17821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ECG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896904" y="2205633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12-lead or single-lead signal acquisition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3" y="2792254"/>
            <a:ext cx="1010007" cy="1212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6904" y="299418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896904" y="3417689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Noise removal, normalisation, baseline correction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93" y="4004310"/>
            <a:ext cx="1010007" cy="12120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6904" y="42062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Segmentation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896904" y="4629745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Beat detection and windowing into fixed-length segments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93" y="5216366"/>
            <a:ext cx="1010007" cy="12120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96904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896904" y="5841802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/ ResNet / Hybrid classification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993" y="6428423"/>
            <a:ext cx="1010007" cy="12120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6904" y="663035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XAI + Robustness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896904" y="7053858"/>
            <a:ext cx="120265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Explanation generation and adversarial evaluation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09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Strategy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3337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57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CNN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147905"/>
            <a:ext cx="4158615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stable architecture.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Lightweight, fast to train, and consistently reliable. The strongest baseline for adversarial evaluation.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883337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657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ResNet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147905"/>
            <a:ext cx="4158615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Richer feature extraction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residual connections. Captures deeper signal patterns but shows moderate robustness degradation.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883337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657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Hybrid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147905"/>
            <a:ext cx="415861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CNN + recurrent elements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temporal modelling. Most expressive — but also most sensitive to perturbations.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85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Explainable 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44178"/>
            <a:ext cx="828413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 is not optional in clinical AI. We integrate two complementary XAI methods to surface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model is attending to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and verify that explanations remain stable under pressure.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68735"/>
            <a:ext cx="8284131" cy="2199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highlights temporal regions of the ECG signal driving each classification decision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Gradients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attributes prediction confidence to individual input features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Explanation Stability evaluation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tests whether explanations hold under input noise and adversarial conditions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012156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35462"/>
            <a:ext cx="6022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Adversarial Robustness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1884402"/>
            <a:ext cx="7556421" cy="1685330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1884402"/>
            <a:ext cx="121920" cy="16853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924" y="21416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FGSM Attack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628924" y="2632115"/>
            <a:ext cx="695039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Gradient Sign Method — single-step perturbation to rapidly stress-test model boundaries with minimal noise.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3796546"/>
            <a:ext cx="7556421" cy="1685330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3796546"/>
            <a:ext cx="121920" cy="16853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8924" y="4053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PGD Attack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628924" y="4544258"/>
            <a:ext cx="695039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Projected Gradient Descent — iterative, stronger adversarial pressure that reveals deeper model vulnerabilities.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6280190" y="5708690"/>
            <a:ext cx="7556421" cy="1685330"/>
          </a:xfrm>
          <a:prstGeom prst="roundRect">
            <a:avLst>
              <a:gd name="adj" fmla="val 8681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5708690"/>
            <a:ext cx="121920" cy="16853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8924" y="59659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Adversarial Training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6628924" y="6456402"/>
            <a:ext cx="695039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are retrained on adversarial examples to build inherent resilience into the weights themselves.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at a Glance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33839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764756"/>
            <a:ext cx="6015395" cy="83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</a:t>
            </a: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most robust to adversarial attacks; stable, reliable explanations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ResNet</a:t>
            </a: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moderate accuracy gains with moderate robustness drop</a:t>
            </a:r>
            <a:endParaRPr lang="en-US" sz="14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</a:t>
            </a: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highest raw accuracy but greatest degradation under attack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757857"/>
            <a:ext cx="6015395" cy="895945"/>
          </a:xfrm>
          <a:prstGeom prst="roundRect">
            <a:avLst>
              <a:gd name="adj" fmla="val 8473"/>
            </a:avLst>
          </a:prstGeom>
          <a:solidFill>
            <a:srgbClr val="C6E4E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5000744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46928"/>
            <a:ext cx="5247323" cy="48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Complexity is a double-edged sword — the most expressive models are the most fragile.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72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Core Insight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959656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25147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186470"/>
            <a:ext cx="1869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Interpretability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780711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BFD3D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824288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02895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051102"/>
            <a:ext cx="14820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Robustness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645343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BFD3D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4688919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48935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4915733"/>
            <a:ext cx="121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752028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model excels at all three.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models produce more stable explanations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while complex models trade resilience for performance. Designing trustworthy AI means navigating this triangle deliberately — not accidentally.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952619"/>
            <a:ext cx="4216241" cy="63243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637103"/>
            <a:ext cx="546485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Contribution &amp; Impact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756642" y="1621869"/>
            <a:ext cx="3712369" cy="3367921"/>
          </a:xfrm>
          <a:prstGeom prst="roundRect">
            <a:avLst>
              <a:gd name="adj" fmla="val 269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61" y="1845588"/>
            <a:ext cx="648533" cy="64853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8716" y="2023824"/>
            <a:ext cx="291822" cy="2918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0361" y="2700099"/>
            <a:ext cx="324885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Trustworthy AI Framework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980361" y="3161467"/>
            <a:ext cx="3264932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reusable, modular pipeline unifying accuracy, explainability, and robustness for ECG classification tasks.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674989" y="1621869"/>
            <a:ext cx="3712369" cy="3367921"/>
          </a:xfrm>
          <a:prstGeom prst="roundRect">
            <a:avLst>
              <a:gd name="adj" fmla="val 269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8707" y="1845588"/>
            <a:ext cx="648533" cy="648533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7063" y="2023824"/>
            <a:ext cx="291822" cy="29182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98707" y="2700099"/>
            <a:ext cx="32649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XAI + Adversarial Integration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4898707" y="3499247"/>
            <a:ext cx="3264932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First-class integration of Grad-CAM, Integrated Gradients, and adversarial evaluation within one coherent system.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756642" y="5195768"/>
            <a:ext cx="7630716" cy="2396728"/>
          </a:xfrm>
          <a:prstGeom prst="roundRect">
            <a:avLst>
              <a:gd name="adj" fmla="val 378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61" y="5419487"/>
            <a:ext cx="648533" cy="648533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716" y="5597723"/>
            <a:ext cx="291822" cy="29182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80361" y="6273998"/>
            <a:ext cx="308324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Trade-Off Insights</a:t>
            </a:r>
            <a:endParaRPr lang="en-US" sz="2100" dirty="0"/>
          </a:p>
        </p:txBody>
      </p:sp>
      <p:sp>
        <p:nvSpPr>
          <p:cNvPr id="19" name="Text 10"/>
          <p:cNvSpPr/>
          <p:nvPr/>
        </p:nvSpPr>
        <p:spPr>
          <a:xfrm>
            <a:off x="980361" y="6735366"/>
            <a:ext cx="7183279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evidence that guides practitioners in selecting models aligned with their clinical risk tolerance.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Custom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Roboto</vt:lpstr>
      <vt:lpstr>Host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Neha Ann Binoy</cp:lastModifiedBy>
  <cp:revision>2</cp:revision>
  <dcterms:created xsi:type="dcterms:W3CDTF">2026-04-13T00:13:21Z</dcterms:created>
  <dcterms:modified xsi:type="dcterms:W3CDTF">2026-04-13T00:33:35Z</dcterms:modified>
</cp:coreProperties>
</file>